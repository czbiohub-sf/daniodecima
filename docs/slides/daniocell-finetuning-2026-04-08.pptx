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DanioDecima x DanioCell:</a:t>
            </a:r>
            <a:br/>
            <a:r>
              <a:t>Scaling sequence-to-expression fine-tuning</a:t>
            </a:r>
            <a:br/>
            <a:r>
              <a:t>to a richer atlas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0"/>
              </a:spcAft>
              <a:defRPr sz="2200" b="0">
                <a:solidFill>
                  <a:srgbClr val="000000"/>
                </a:solidFill>
                <a:latin typeface="Avenir Light"/>
              </a:defRPr>
            </a:pPr>
            <a:r>
              <a:t>Yang-Joon Kim, Mathias Voges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09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0">
                <a:solidFill>
                  <a:srgbClr val="6B7280"/>
                </a:solidFill>
                <a:latin typeface="Avenir Light"/>
              </a:defRPr>
            </a:pPr>
            <a:r>
              <a:t>CZ Biohub San Francisco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0">
                <a:solidFill>
                  <a:srgbClr val="6B7280"/>
                </a:solidFill>
                <a:latin typeface="Avenir Light"/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We validated a fine-tuning framework on Zebrahub — can it scale to richer data?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Framework validated: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Same pipeline, same biology — pretrained &gt;&gt; random, no memorization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Better data in: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DanioCell has 3.4x more pseudobulks and 2.5x better cell-type x stage coverage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Model ready: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Gene-level Pearson identical to DanioDecima (0.38); attribution confirms biological signal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389120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2000" b="0">
                <a:solidFill>
                  <a:srgbClr val="036DEA"/>
                </a:solidFill>
                <a:latin typeface="Avenir Light"/>
              </a:rPr>
              <a:t>Bottom line: </a:t>
            </a:r>
            <a:r>
              <a:rPr sz="2000" b="0">
                <a:solidFill>
                  <a:srgbClr val="000000"/>
                </a:solidFill>
                <a:latin typeface="Avenir Light"/>
              </a:rPr>
              <a:t>DanioCell model is ready for in silico mutagenesis and regulatory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DanioCell provides 3.4x more pseudobulks and 2.5x denser developmental coverage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560320"/>
                <a:gridCol w="25603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Zebrahub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DanioCell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Pseudobulk tracks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304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1,047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3.4x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Cell types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154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153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comparable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Developmental stages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10 (10hpf-10dpf)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14 (3-120 hpf)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1.4x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Cell-type x stage coverage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19.7%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48.9%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2.5x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Total genes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31,767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28,201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comparable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Test genes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7,289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6,405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comparable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937760"/>
            <a:ext cx="10698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800" b="0">
                <a:solidFill>
                  <a:srgbClr val="036DEA"/>
                </a:solidFill>
                <a:latin typeface="Avenir Light"/>
              </a:rPr>
              <a:t>Key advantage: </a:t>
            </a:r>
            <a:r>
              <a:rPr sz="1800" b="0">
                <a:solidFill>
                  <a:srgbClr val="000000"/>
                </a:solidFill>
                <a:latin typeface="Avenir Light"/>
              </a:rPr>
              <a:t>DanioCell's denser coverage means the model sees more developmental diversity during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Same architecture and loss — only the atlas and init strategy differ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0"/>
              </a:spcAft>
              <a:defRPr sz="2000" b="0">
                <a:solidFill>
                  <a:srgbClr val="036DEA"/>
                </a:solidFill>
                <a:latin typeface="Avenir Light"/>
              </a:defRPr>
            </a:pPr>
            <a:r>
              <a:t>DanioDecima (Zebrahub) — Mathias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Avenir Light"/>
              </a:rPr>
              <a:t>•  16 experiments: 4 init x 4 replicates</a:t>
            </a:r>
          </a:p>
          <a:p>
            <a:pPr algn="l">
              <a:lnSpc>
                <a:spcPts val="2070"/>
              </a:lnSpc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Avenir Light"/>
              </a:rPr>
              <a:t>•  Random, Mouse-Borzoi, Human-Borzoi, Human-Decima</a:t>
            </a:r>
          </a:p>
          <a:p>
            <a:pPr algn="l">
              <a:lnSpc>
                <a:spcPts val="2070"/>
              </a:lnSpc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Avenir Light"/>
              </a:rPr>
              <a:t>•  10 timepoints, 304 pseudobulks</a:t>
            </a:r>
          </a:p>
          <a:p>
            <a:pPr algn="l">
              <a:lnSpc>
                <a:spcPts val="2070"/>
              </a:lnSpc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Avenir Light"/>
              </a:rPr>
              <a:t>•  TensorBoard logging, Ray Tune sweep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0"/>
              </a:spcAft>
              <a:defRPr sz="2000" b="0">
                <a:solidFill>
                  <a:srgbClr val="036DEA"/>
                </a:solidFill>
                <a:latin typeface="Avenir Light"/>
              </a:defRPr>
            </a:pPr>
            <a:r>
              <a:t>DanioCell Fine-Tuning — Yang-Joon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Avenir Light"/>
              </a:rPr>
              <a:t>•  8 experiments: 2 init x 4 replicates</a:t>
            </a:r>
          </a:p>
          <a:p>
            <a:pPr algn="l">
              <a:lnSpc>
                <a:spcPts val="2070"/>
              </a:lnSpc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Avenir Light"/>
              </a:rPr>
              <a:t>•  Random (lr=3e-6), Pretrained Human-Decima (lr=3e-5)</a:t>
            </a:r>
          </a:p>
          <a:p>
            <a:pPr algn="l">
              <a:lnSpc>
                <a:spcPts val="2070"/>
              </a:lnSpc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Avenir Light"/>
              </a:rPr>
              <a:t>•  14 stage groups, 1,047 pseudobulks</a:t>
            </a:r>
          </a:p>
          <a:p>
            <a:pPr algn="l">
              <a:lnSpc>
                <a:spcPts val="2070"/>
              </a:lnSpc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Avenir Light"/>
              </a:rPr>
              <a:t>•  CSVLogger, deterministic training (CUDA)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98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800" b="0">
                <a:solidFill>
                  <a:srgbClr val="036DEA"/>
                </a:solidFill>
                <a:latin typeface="Avenir Light"/>
              </a:rPr>
              <a:t>Rationale: </a:t>
            </a:r>
            <a:r>
              <a:rPr sz="1800" b="0">
                <a:solidFill>
                  <a:srgbClr val="000000"/>
                </a:solidFill>
                <a:latin typeface="Avenir Light"/>
              </a:rPr>
              <a:t>Used best init strategy (Human-Decima) identified by Mathias's sweep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Pretrained models converge in 2-3 epochs; random oscillates through epoch 30</a:t>
            </a:r>
          </a:p>
        </p:txBody>
      </p:sp>
      <p:pic>
        <p:nvPicPr>
          <p:cNvPr id="3" name="Picture 2" descr="fig1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9601200" cy="3734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800"/>
              </a:spcAft>
            </a:pPr>
            <a:r>
              <a:rPr sz="1800" b="0" i="0">
                <a:solidFill>
                  <a:srgbClr val="036DEA"/>
                </a:solidFill>
                <a:latin typeface="Avenir Light"/>
              </a:rPr>
              <a:t>•  Pretrained: </a:t>
            </a:r>
            <a:r>
              <a:rPr sz="1800" b="0" i="0">
                <a:solidFill>
                  <a:srgbClr val="000000"/>
                </a:solidFill>
                <a:latin typeface="Avenir Light"/>
              </a:rPr>
              <a:t>val_pearson ~0.76, stable from epoch 3</a:t>
            </a:r>
          </a:p>
          <a:p>
            <a:pPr algn="l">
              <a:lnSpc>
                <a:spcPts val="2070"/>
              </a:lnSpc>
              <a:spcAft>
                <a:spcPts val="800"/>
              </a:spcAft>
            </a:pPr>
            <a:r>
              <a:rPr sz="1800" b="0" i="0">
                <a:solidFill>
                  <a:srgbClr val="036DEA"/>
                </a:solidFill>
                <a:latin typeface="Avenir Light"/>
              </a:rPr>
              <a:t>•  Random: </a:t>
            </a:r>
            <a:r>
              <a:rPr sz="1800" b="0" i="0">
                <a:solidFill>
                  <a:srgbClr val="000000"/>
                </a:solidFill>
                <a:latin typeface="Avenir Light"/>
              </a:rPr>
              <a:t>val_pearson ~0.50, high variance through epoch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Gene-level Pearson is identical (0.38); pretrained lift is actually larger (+0.23 vs +0.19)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011680"/>
                <a:gridCol w="2011680"/>
                <a:gridCol w="3474720"/>
              </a:tblGrid>
              <a:tr h="418011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Zebrahub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DanioCell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Track Pearson (pretrained)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0.81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0.76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More rare cell types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Track Pearson (random)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0.62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0.53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Track lift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+0.19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+0.23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DanioCell &gt; Zebrahub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Gene Pearson (pretrained)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0.38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0.38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Identical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Gene Pearson (random)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0.24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0.23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Gene lift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+0.14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+0.15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Identical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754880"/>
            <a:ext cx="10698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800" b="0">
                <a:solidFill>
                  <a:srgbClr val="036DEA"/>
                </a:solidFill>
                <a:latin typeface="Avenir Light"/>
              </a:rPr>
              <a:t>Interpretation: </a:t>
            </a:r>
            <a:r>
              <a:rPr sz="1800" b="0">
                <a:solidFill>
                  <a:srgbClr val="000000"/>
                </a:solidFill>
                <a:latin typeface="Avenir Light"/>
              </a:rPr>
              <a:t>Lower absolute track Pearson reflects more cell types (incl. rare), but the lift from pretraining is larger — the framework works even better with richer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80% of test genes are better predicted by the pretrained model (MWU p=0.014)</a:t>
            </a:r>
          </a:p>
        </p:txBody>
      </p:sp>
      <p:pic>
        <p:nvPicPr>
          <p:cNvPr id="3" name="Picture 2" descr="fig3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633994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Pretraining helps most where prediction is hardest: late development and specialized cell types</a:t>
            </a:r>
          </a:p>
        </p:txBody>
      </p:sp>
      <p:pic>
        <p:nvPicPr>
          <p:cNvPr id="3" name="Picture 2" descr="fig5_developmental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63363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Pretrained lift is independent of gene conservation (rho=-0.07) — not memorizing</a:t>
            </a:r>
          </a:p>
        </p:txBody>
      </p:sp>
      <p:pic>
        <p:nvPicPr>
          <p:cNvPr id="3" name="Picture 2" descr="fig6_conservatio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666694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0">
                <a:solidFill>
                  <a:srgbClr val="6B7280"/>
                </a:solidFill>
                <a:latin typeface="Avenir Light"/>
              </a:defRPr>
            </a:pPr>
            <a:r>
              <a:t>Replicates DanioDecima finding: model learned regulatory grammar, not conserved sequences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Pretrained model attributes higher importance to regulatory regions (all p &lt; 0.001)</a:t>
            </a:r>
          </a:p>
        </p:txBody>
      </p:sp>
      <p:pic>
        <p:nvPicPr>
          <p:cNvPr id="3" name="Picture 2" descr="fig7_attribution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9601200" cy="40503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800"/>
              </a:spcAft>
            </a:pPr>
            <a:r>
              <a:rPr sz="1800" b="0" i="0">
                <a:solidFill>
                  <a:srgbClr val="036DEA"/>
                </a:solidFill>
                <a:latin typeface="Avenir Light"/>
              </a:rPr>
              <a:t>•  Promoter &gt;&gt; distal: </a:t>
            </a:r>
            <a:r>
              <a:rPr sz="1800" b="0" i="0">
                <a:solidFill>
                  <a:srgbClr val="000000"/>
                </a:solidFill>
                <a:latin typeface="Avenir Light"/>
              </a:rPr>
              <a:t>expected gradient of regulatory importance</a:t>
            </a:r>
          </a:p>
          <a:p>
            <a:pPr algn="l">
              <a:lnSpc>
                <a:spcPts val="2070"/>
              </a:lnSpc>
              <a:spcAft>
                <a:spcPts val="800"/>
              </a:spcAft>
            </a:pPr>
            <a:r>
              <a:rPr sz="1800" b="0" i="0">
                <a:solidFill>
                  <a:srgbClr val="036DEA"/>
                </a:solidFill>
                <a:latin typeface="Avenir Light"/>
              </a:rPr>
              <a:t>•  Pretrained &gt;&gt; random: </a:t>
            </a:r>
            <a:r>
              <a:rPr sz="1800" b="0" i="0">
                <a:solidFill>
                  <a:srgbClr val="000000"/>
                </a:solidFill>
                <a:latin typeface="Avenir Light"/>
              </a:rPr>
              <a:t>at all 8 regions — learned regulatory grammar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Pretrained model preferentially attributes importance to ATAC-accessible CRE regions</a:t>
            </a:r>
          </a:p>
        </p:txBody>
      </p:sp>
      <p:pic>
        <p:nvPicPr>
          <p:cNvPr id="3" name="Picture 2" descr="fig8_atac_fold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8505456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800"/>
              </a:spcAft>
            </a:pPr>
            <a:r>
              <a:rPr sz="1800" b="0" i="0">
                <a:solidFill>
                  <a:srgbClr val="036DEA"/>
                </a:solidFill>
                <a:latin typeface="Avenir Light"/>
              </a:rPr>
              <a:t>•  Promoter CREs: </a:t>
            </a:r>
            <a:r>
              <a:rPr sz="1800" b="0" i="0">
                <a:solidFill>
                  <a:srgbClr val="000000"/>
                </a:solidFill>
                <a:latin typeface="Avenir Light"/>
              </a:rPr>
              <a:t>log2 FC ~0.85 — strong enrichment in accessible chromatin</a:t>
            </a:r>
          </a:p>
          <a:p>
            <a:pPr algn="l">
              <a:lnSpc>
                <a:spcPts val="2070"/>
              </a:lnSpc>
              <a:spcAft>
                <a:spcPts val="800"/>
              </a:spcAft>
            </a:pPr>
            <a:r>
              <a:rPr sz="1800" b="0" i="0">
                <a:solidFill>
                  <a:srgbClr val="036DEA"/>
                </a:solidFill>
                <a:latin typeface="Avenir Light"/>
              </a:rPr>
              <a:t>•  Random model: </a:t>
            </a:r>
            <a:r>
              <a:rPr sz="1800" b="0" i="0">
                <a:solidFill>
                  <a:srgbClr val="000000"/>
                </a:solidFill>
                <a:latin typeface="Avenir Light"/>
              </a:rPr>
              <a:t>near-zero enrichment at distal regions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MoDISco recovers lineage-specific motif architectures across 10 focal cell types</a:t>
            </a:r>
          </a:p>
        </p:txBody>
      </p:sp>
      <p:pic>
        <p:nvPicPr>
          <p:cNvPr id="3" name="Picture 2" descr="fig9_motif_clus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4040764" cy="4114800"/>
          </a:xfrm>
          <a:prstGeom prst="rect">
            <a:avLst/>
          </a:prstGeom>
        </p:spPr>
      </p:pic>
      <p:pic>
        <p:nvPicPr>
          <p:cNvPr id="4" name="Picture 3" descr="fig10_celltype_dendr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86000"/>
            <a:ext cx="5029200" cy="17582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0">
                <a:solidFill>
                  <a:srgbClr val="6B7280"/>
                </a:solidFill>
                <a:latin typeface="Avenir Light"/>
              </a:defRPr>
            </a:pPr>
            <a:r>
              <a:t>Lineage clustering: neurons-notochord, epidermis-radial glia, cardiac muscle-somite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All DanioDecima findings replicate with DanioCell — the framework generalizes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743200"/>
                <a:gridCol w="2560320"/>
                <a:gridCol w="2468880"/>
              </a:tblGrid>
              <a:tr h="43434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Evaluation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DanioDecima (Zebrahub)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DanioCell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Gene Pearson (pretrained)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0.38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0.38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Matched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Pretrained &gt;&gt; random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Yes (p &lt; 0.001)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Yes (p = 0.014)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Replicated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Conservation independence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rho ~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rho = -0.07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Replicated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Attribution in reg. regions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Promoter &gt;&gt; distal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Promoter &gt;&gt; distal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Replicated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CRE enrichment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ATAC FC &gt;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ATAC FC &gt;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Replicated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Motif clustering by lineage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25 cell types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10 focal types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Replicated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Directed evolution designs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Ready to run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36DEA"/>
                          </a:solidFill>
                          <a:latin typeface="Avenir Light"/>
                        </a:defRPr>
                      </a:pPr>
                      <a:r>
                        <a:t>Next step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Next: directed evolution on 153 cell types, then experimental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In silico mutagenesis: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Run gReLU design loop on DanioCell model for all 153 cell types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Marker gene analysis: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AUROC/AUPRC per cell type — predicted vs observed marker specificity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Temporal regulatory dynamics: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Leverage 14 stage groups to study regulatory changes across development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Experimental validation: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Select top designed regulatory elements for MPRA/reporter assay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Model release: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Package weights, scripts, and evaluation pipeline for the team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[Backup] 120 hpf is enriched for poor performers; early stages dominate best performers</a:t>
            </a:r>
          </a:p>
        </p:txBody>
      </p:sp>
      <p:pic>
        <p:nvPicPr>
          <p:cNvPr id="3" name="Picture 2" descr="fig4_timepoint_enric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395915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[Backup] Full metrics for all 8 DanioCell experiments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011680"/>
                <a:gridCol w="2560320"/>
                <a:gridCol w="2651760"/>
              </a:tblGrid>
              <a:tr h="4064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Experiment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Gene Pearson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Track Pearson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pretrained_rep0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pretrained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0.381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0.761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pretrained_rep1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pretrained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0.371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0.755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pretrained_rep2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pretrained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0.377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0.771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pretrained_rep3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pretrained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0.375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0.762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random_seed42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random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DC2626"/>
                          </a:solidFill>
                          <a:latin typeface="Avenir Light"/>
                        </a:defRPr>
                      </a:pPr>
                      <a:r>
                        <a:t>0.228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DC2626"/>
                          </a:solidFill>
                          <a:latin typeface="Avenir Light"/>
                        </a:defRPr>
                      </a:pPr>
                      <a:r>
                        <a:t>0.496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random_seed43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random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DC2626"/>
                          </a:solidFill>
                          <a:latin typeface="Avenir Light"/>
                        </a:defRPr>
                      </a:pPr>
                      <a:r>
                        <a:t>0.228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DC2626"/>
                          </a:solidFill>
                          <a:latin typeface="Avenir Light"/>
                        </a:defRPr>
                      </a:pPr>
                      <a:r>
                        <a:t>0.539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random_seed44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random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DC2626"/>
                          </a:solidFill>
                          <a:latin typeface="Avenir Light"/>
                        </a:defRPr>
                      </a:pPr>
                      <a:r>
                        <a:t>0.227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DC2626"/>
                          </a:solidFill>
                          <a:latin typeface="Avenir Light"/>
                        </a:defRPr>
                      </a:pPr>
                      <a:r>
                        <a:t>0.543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random_seed45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random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DC2626"/>
                          </a:solidFill>
                          <a:latin typeface="Avenir Light"/>
                        </a:defRPr>
                      </a:pPr>
                      <a:r>
                        <a:t>0.234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DC2626"/>
                          </a:solidFill>
                          <a:latin typeface="Avenir Light"/>
                        </a:defRPr>
                      </a:pPr>
                      <a:r>
                        <a:t>0.541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